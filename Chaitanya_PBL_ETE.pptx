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6" r:id="rId9"/>
    <p:sldId id="268" r:id="rId10"/>
    <p:sldId id="269" r:id="rId11"/>
    <p:sldId id="270" r:id="rId12"/>
    <p:sldId id="271" r:id="rId13"/>
    <p:sldId id="272" r:id="rId14"/>
    <p:sldId id="267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>
      <p:cViewPr varScale="1">
        <p:scale>
          <a:sx n="114" d="100"/>
          <a:sy n="114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13/04/26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13/04/26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13/04/26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13/04/26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/>
          <a:lstStyle/>
          <a:p>
            <a:pPr algn="ctr"/>
            <a:r>
              <a:rPr sz="3600" b="0">
                <a:solidFill>
                  <a:srgbClr val="000000"/>
                </a:solidFill>
                <a:latin typeface="Aptos Display"/>
              </a:rPr>
              <a:t>Optimized QuickSort: Pivot Selection
&amp; Partitioning Strategies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pPr algn="l"/>
            <a:r>
              <a:rPr sz="2000">
                <a:solidFill>
                  <a:srgbClr val="000000"/>
                </a:solidFill>
                <a:latin typeface="Aptos"/>
              </a:rPr>
              <a:t>Submitted By:</a:t>
            </a:r>
          </a:p>
          <a:p>
            <a:pPr algn="l"/>
            <a:r>
              <a:rPr sz="2000">
                <a:solidFill>
                  <a:srgbClr val="000000"/>
                </a:solidFill>
                <a:latin typeface="Aptos"/>
              </a:rPr>
              <a:t>Chaitanya Khokhar</a:t>
            </a:r>
          </a:p>
          <a:p>
            <a:pPr algn="l"/>
            <a:r>
              <a:rPr sz="2000">
                <a:solidFill>
                  <a:srgbClr val="000000"/>
                </a:solidFill>
                <a:latin typeface="Aptos"/>
              </a:rPr>
              <a:t>2427030546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>
                <a:solidFill>
                  <a:srgbClr val="000000"/>
                </a:solidFill>
                <a:latin typeface="Aptos"/>
              </a:rPr>
              <a:t>Supervised By:</a:t>
            </a:r>
          </a:p>
          <a:p>
            <a:pPr algn="l"/>
            <a:r>
              <a:rPr sz="2000">
                <a:solidFill>
                  <a:srgbClr val="000000"/>
                </a:solidFill>
                <a:latin typeface="Aptos"/>
              </a:rPr>
              <a:t>Dr Ajay Kumar</a:t>
            </a:r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sz="2400">
                <a:latin typeface="Aptos"/>
              </a:rPr>
              <a:t>Introduction</a:t>
            </a:r>
          </a:p>
          <a:p>
            <a:r>
              <a:rPr sz="2400">
                <a:latin typeface="Aptos"/>
              </a:rPr>
              <a:t>Literature Review</a:t>
            </a:r>
          </a:p>
          <a:p>
            <a:r>
              <a:rPr sz="2400">
                <a:latin typeface="Aptos"/>
              </a:rPr>
              <a:t>Problem Statement</a:t>
            </a:r>
          </a:p>
          <a:p>
            <a:r>
              <a:rPr sz="2400">
                <a:latin typeface="Aptos"/>
              </a:rPr>
              <a:t>Objectives</a:t>
            </a:r>
          </a:p>
          <a:p>
            <a:r>
              <a:rPr sz="2400">
                <a:latin typeface="Aptos"/>
              </a:rPr>
              <a:t>Proposed Methodology</a:t>
            </a:r>
          </a:p>
          <a:p>
            <a:r>
              <a:rPr sz="2400">
                <a:latin typeface="Aptos"/>
              </a:rPr>
              <a:t>Implementation &amp; Results</a:t>
            </a:r>
          </a:p>
          <a:p>
            <a:r>
              <a:rPr sz="2400">
                <a:latin typeface="Aptos"/>
              </a:rPr>
              <a:t>Outcome</a:t>
            </a:r>
          </a:p>
          <a:p>
            <a:r>
              <a:rPr sz="2400">
                <a:latin typeface="Aptos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sz="1800">
                <a:solidFill>
                  <a:srgbClr val="333333"/>
                </a:solidFill>
                <a:latin typeface="Aptos"/>
              </a:rPr>
              <a:t>QuickSort is one of the most widely used sorting algorithms, with an average-case time complexity of O(n log n). However, its performance is highly sensitive to pivot selection — poor choices can degrade it to O(n²), causing excessive comparisons, deep recursion stacks, and wasted energy.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333333"/>
                </a:solidFill>
                <a:latin typeface="Aptos"/>
              </a:rPr>
              <a:t>This project implements and benchmarks six distinct pivot selection and partitioning strategies in C, evaluating them across five diverse workloads (random, sorted, reverse, nearly-sorted, and duplicate-heavy data) at multiple input sizes (1K to 50K elements).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333333"/>
                </a:solidFill>
                <a:latin typeface="Aptos"/>
              </a:rPr>
              <a:t>We measure comparisons, swaps, recursion depth, and wall-clock time to quantify time complexity, memory usage, and energy efficiency — identifying which strategy provides the best trade-off across all metrics.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sz="1600" b="1">
                <a:solidFill>
                  <a:srgbClr val="333333"/>
                </a:solidFill>
                <a:latin typeface="Aptos"/>
              </a:rPr>
              <a:t>Hoare (1962): </a:t>
            </a:r>
            <a:r>
              <a:rPr sz="1600">
                <a:solidFill>
                  <a:srgbClr val="333333"/>
                </a:solidFill>
                <a:latin typeface="Aptos"/>
              </a:rPr>
              <a:t>Introduced the original QuickSort algorithm with Hoare partitioning scheme. Average O(n log n) but worst-case O(n²) with poor pivot choices.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33333"/>
                </a:solidFill>
                <a:latin typeface="Aptos"/>
              </a:rPr>
              <a:t>Sedgewick (1978): </a:t>
            </a:r>
            <a:r>
              <a:rPr sz="1600">
                <a:solidFill>
                  <a:srgbClr val="333333"/>
                </a:solidFill>
                <a:latin typeface="Aptos"/>
              </a:rPr>
              <a:t>Analyzed median-of-three pivot selection, showing it reduces worst-case probability and improves average comparisons by ~5% over random pivot.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33333"/>
                </a:solidFill>
                <a:latin typeface="Aptos"/>
              </a:rPr>
              <a:t>Yaroslavskiy (2009): </a:t>
            </a:r>
            <a:r>
              <a:rPr sz="1600">
                <a:solidFill>
                  <a:srgbClr val="333333"/>
                </a:solidFill>
                <a:latin typeface="Aptos"/>
              </a:rPr>
              <a:t>Proposed dual-pivot partitioning, adopted by Java's Arrays.sort(). Reduces swaps by partitioning into three segments, achieving fewer data movements on random inputs.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33333"/>
                </a:solidFill>
                <a:latin typeface="Aptos"/>
              </a:rPr>
              <a:t>Musser (1997): </a:t>
            </a:r>
            <a:r>
              <a:rPr sz="1600">
                <a:solidFill>
                  <a:srgbClr val="333333"/>
                </a:solidFill>
                <a:latin typeface="Aptos"/>
              </a:rPr>
              <a:t>Introduced IntroSort (Introspective Sort) — a hybrid combining QuickSort, HeapSort, and InsertionSort. Guarantees O(n log n) worst-case while retaining QuickSort's practical speed. Used in C++ STL std::sort.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33333"/>
                </a:solidFill>
                <a:latin typeface="Aptos"/>
              </a:rPr>
              <a:t>Bentley &amp; McIlroy (1993): </a:t>
            </a:r>
            <a:r>
              <a:rPr sz="1600">
                <a:solidFill>
                  <a:srgbClr val="333333"/>
                </a:solidFill>
                <a:latin typeface="Aptos"/>
              </a:rPr>
              <a:t>Developed engineering optimizations including fat partition (three-way partitioning) for handling duplicate keys efficiently.</a:t>
            </a:r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sz="2000">
                <a:solidFill>
                  <a:srgbClr val="333333"/>
                </a:solidFill>
                <a:latin typeface="Aptos"/>
              </a:rPr>
              <a:t>Standard QuickSort's performance degrades to O(n²) time complexity and O(n) recursion depth on sorted, reverse-sorted, and duplicate-heavy inputs, leading to excessive memory consumption and energy waste. There is a need to develop and evaluate optimized pivot selection and partitioning strategies that maintain O(n log n) average-case performance while minimizing worst-case degradation across diverse real-world workloads.</a:t>
            </a: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sz="1800">
                <a:solidFill>
                  <a:srgbClr val="333333"/>
                </a:solidFill>
                <a:latin typeface="Aptos"/>
              </a:rPr>
              <a:t>Implement six QuickSort variants (Naive, Random Pivot, Median-of-3, Ninther, Dual-Pivot, Hybrid/IntroSort) in C with instrumented metrics collection.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333333"/>
                </a:solidFill>
                <a:latin typeface="Aptos"/>
              </a:rPr>
              <a:t>Evaluate each strategy across five diverse workloads (random, sorted, reverse, nearly-sorted, many-duplicates) at input sizes from 1,000 to 50,000 elements.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333333"/>
                </a:solidFill>
                <a:latin typeface="Aptos"/>
              </a:rPr>
              <a:t>Minimize recursion depth and stack memory usage through tail-call optimization and InsertionSort cutoff for small sub-arrays.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333333"/>
                </a:solidFill>
                <a:latin typeface="Aptos"/>
              </a:rPr>
              <a:t>Identify the optimal strategy that balances time complexity, memory overhead, and energy efficiency (measured as total comparisons + swaps) while guaranteeing 100% sorting correctness.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(4 slides)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sz="1600" b="1">
                <a:solidFill>
                  <a:srgbClr val="333333"/>
                </a:solidFill>
                <a:latin typeface="Aptos"/>
              </a:rPr>
              <a:t>Step 1 — Algorithm Implementation: </a:t>
            </a:r>
            <a:r>
              <a:rPr sz="1600">
                <a:solidFill>
                  <a:srgbClr val="333333"/>
                </a:solidFill>
                <a:latin typeface="Aptos"/>
              </a:rPr>
              <a:t>Coded all six strategies in C with a common Metrics struct tracking comparisons, swaps, and max recursion depth. Each sort function receives a Metrics pointer and increments counters at every comparison/swap operation.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33333"/>
                </a:solidFill>
                <a:latin typeface="Aptos"/>
              </a:rPr>
              <a:t>Step 2 — Workload Generation: </a:t>
            </a:r>
            <a:r>
              <a:rPr sz="1600">
                <a:solidFill>
                  <a:srgbClr val="333333"/>
                </a:solidFill>
                <a:latin typeface="Aptos"/>
              </a:rPr>
              <a:t>Built five generators: gen_random (uniform random), gen_sorted (ascending), gen_reverse (descending), gen_nearly_sorted (sorted + 5% random swaps), gen_duplicates (only 10 distinct values).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33333"/>
                </a:solidFill>
                <a:latin typeface="Aptos"/>
              </a:rPr>
              <a:t>Step 3 — Benchmarking Framework: </a:t>
            </a:r>
            <a:r>
              <a:rPr sz="1600">
                <a:solidFill>
                  <a:srgbClr val="333333"/>
                </a:solidFill>
                <a:latin typeface="Aptos"/>
              </a:rPr>
              <a:t>For each (strategy, workload, size) combination, the original array is copied, sorted, timed with clock_gettime(CLOCK_MONOTONIC), and verified with is_sorted(). Results are output as JSON.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33333"/>
                </a:solidFill>
                <a:latin typeface="Aptos"/>
              </a:rPr>
              <a:t>Step 4 — Analysis: </a:t>
            </a:r>
            <a:r>
              <a:rPr sz="1600">
                <a:solidFill>
                  <a:srgbClr val="333333"/>
                </a:solidFill>
                <a:latin typeface="Aptos"/>
              </a:rPr>
              <a:t>Benchmark JSON is parsed to generate comparative charts (log-scale bar charts for comparisons, depth, energy; line chart for scalability) and summary tables.</a:t>
            </a: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4913-00D1-0B0F-38B7-C226FBBC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sz="1800">
                <a:solidFill>
                  <a:srgbClr val="333333"/>
                </a:solidFill>
                <a:latin typeface="Aptos"/>
              </a:rPr>
              <a:t>See following slides for detailed results: comparisons, recursion depth, scalability, and energy efficiency charts, plus summary table.</a:t>
            </a:r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000000"/>
                </a:solidFill>
                <a:latin typeface="Aptos Display"/>
              </a:rPr>
              <a:t>Results: Comparisons (n = 50,000)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chart_compari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43894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000000"/>
                </a:solidFill>
                <a:latin typeface="Aptos Display"/>
              </a:rPr>
              <a:t>Results: Recursion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chart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43894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000000"/>
                </a:solidFill>
                <a:latin typeface="Aptos Display"/>
              </a:rPr>
              <a:t>Results: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chart_sca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062163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000000"/>
                </a:solidFill>
                <a:latin typeface="Aptos Display"/>
              </a:rPr>
              <a:t>Results: Energy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chart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062163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solidFill>
                  <a:srgbClr val="000000"/>
                </a:solidFill>
                <a:latin typeface="Aptos Display"/>
              </a:rPr>
              <a:t>Summary: n = 50,000 (Random 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0896600" cy="4713923"/>
          </a:xfrm>
        </p:spPr>
        <p:txBody>
          <a:bodyPr/>
          <a:lstStyle/>
          <a:p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116986"/>
              </p:ext>
            </p:extLst>
          </p:nvPr>
        </p:nvGraphicFramePr>
        <p:xfrm>
          <a:off x="1550020" y="2152185"/>
          <a:ext cx="9222060" cy="3242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4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3253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Strategy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Comparisons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Swaps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Max Depth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Time (ms)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5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Naive (First)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933,998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528,186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3.54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5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Random Pivot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959,852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586,982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4.14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25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Median-of-3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889,435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480,587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3.52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25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Ninther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888,768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459,503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3.91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25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Dual-Pivot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812,924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300,777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3.74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25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868,633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473,866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rPr dirty="0"/>
                        <a:t>3.40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sz="1800" b="1" dirty="0">
                <a:solidFill>
                  <a:srgbClr val="333333"/>
                </a:solidFill>
                <a:latin typeface="Aptos"/>
              </a:rPr>
              <a:t>The Hybrid (</a:t>
            </a:r>
            <a:r>
              <a:rPr sz="1800" b="1" dirty="0" err="1">
                <a:solidFill>
                  <a:srgbClr val="333333"/>
                </a:solidFill>
                <a:latin typeface="Aptos"/>
              </a:rPr>
              <a:t>IntroSort</a:t>
            </a:r>
            <a:r>
              <a:rPr sz="1800" b="1" dirty="0">
                <a:solidFill>
                  <a:srgbClr val="333333"/>
                </a:solidFill>
                <a:latin typeface="Aptos"/>
              </a:rPr>
              <a:t>) strategy was identified as the optimal approach, delivering:</a:t>
            </a: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333333"/>
                </a:solidFill>
                <a:latin typeface="Aptos"/>
              </a:rPr>
              <a:t>Fastest wall-clock time (3.40 </a:t>
            </a:r>
            <a:r>
              <a:rPr sz="1600" dirty="0" err="1">
                <a:solidFill>
                  <a:srgbClr val="333333"/>
                </a:solidFill>
                <a:latin typeface="Aptos"/>
              </a:rPr>
              <a:t>ms</a:t>
            </a:r>
            <a:r>
              <a:rPr sz="1600" dirty="0">
                <a:solidFill>
                  <a:srgbClr val="333333"/>
                </a:solidFill>
                <a:latin typeface="Aptos"/>
              </a:rPr>
              <a:t> at n=50,000 random data)</a:t>
            </a: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333333"/>
                </a:solidFill>
                <a:latin typeface="Aptos"/>
              </a:rPr>
              <a:t>Guaranteed O(n log n) worst-case via </a:t>
            </a:r>
            <a:r>
              <a:rPr sz="1600" dirty="0" err="1">
                <a:solidFill>
                  <a:srgbClr val="333333"/>
                </a:solidFill>
                <a:latin typeface="Aptos"/>
              </a:rPr>
              <a:t>HeapSort</a:t>
            </a:r>
            <a:r>
              <a:rPr sz="1600" dirty="0">
                <a:solidFill>
                  <a:srgbClr val="333333"/>
                </a:solidFill>
                <a:latin typeface="Aptos"/>
              </a:rPr>
              <a:t> fallback</a:t>
            </a: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333333"/>
                </a:solidFill>
                <a:latin typeface="Aptos"/>
              </a:rPr>
              <a:t>Bounded recursion depth of O(log n) — only 24 levels vs 49,999 for Naive on sorted data</a:t>
            </a: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333333"/>
                </a:solidFill>
                <a:latin typeface="Aptos"/>
              </a:rPr>
              <a:t>100% sorting accuracy verified across all 120 benchmark configurations</a:t>
            </a:r>
          </a:p>
          <a:p>
            <a:pPr>
              <a:spcBef>
                <a:spcPts val="1600"/>
              </a:spcBef>
            </a:pPr>
            <a:r>
              <a:rPr sz="1600" b="1" dirty="0">
                <a:solidFill>
                  <a:srgbClr val="333333"/>
                </a:solidFill>
                <a:latin typeface="Aptos"/>
              </a:rPr>
              <a:t>Research Paper: </a:t>
            </a:r>
            <a:r>
              <a:rPr lang="en-US" sz="1600" b="1" dirty="0">
                <a:solidFill>
                  <a:srgbClr val="333333"/>
                </a:solidFill>
                <a:latin typeface="Aptos"/>
              </a:rPr>
              <a:t>In progress</a:t>
            </a:r>
            <a:endParaRPr sz="1600" b="1" dirty="0">
              <a:solidFill>
                <a:srgbClr val="33333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sz="1400">
                <a:solidFill>
                  <a:srgbClr val="333333"/>
                </a:solidFill>
                <a:latin typeface="Aptos"/>
              </a:rPr>
              <a:t>[1] C.A.R. Hoare, "Quicksort," The Computer Journal, vol. 5, no. 1, pp. 10-16, 1962.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Aptos"/>
              </a:rPr>
              <a:t>[2] R. Sedgewick, "Implementing Quicksort Programs," Communications of the ACM, vol. 21, no. 10, pp. 847-857, 1978.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Aptos"/>
              </a:rPr>
              <a:t>[3] V. Yaroslavskiy, "Dual-Pivot Quicksort Algorithm," 2009. (Adopted in Java 7 Arrays.sort)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Aptos"/>
              </a:rPr>
              <a:t>[4] D. Musser, "Introspective Sorting and Selection Algorithms," Software: Practice and Experience, vol. 27, no. 8, pp. 983-993, 1997.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Aptos"/>
              </a:rPr>
              <a:t>[5] J.L. Bentley and M.D. McIlroy, "Engineering a Sort Function," Software: Practice and Experience, vol. 23, no. 11, pp. 1249-1265, 1993.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Aptos"/>
              </a:rPr>
              <a:t>[6] T.H. Cormen, C.E. Leiserson, R.L. Rivest, and C. Stein, "Introduction to Algorithms," 3rd ed., MIT Press, 2009.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1068</Words>
  <Application>Microsoft Macintosh PowerPoint</Application>
  <PresentationFormat>Widescreen</PresentationFormat>
  <Paragraphs>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Optimized QuickSort: Pivot Selection
&amp; Partitioning Strategies</vt:lpstr>
      <vt:lpstr>Outline</vt:lpstr>
      <vt:lpstr>Introduction</vt:lpstr>
      <vt:lpstr>Literature Review</vt:lpstr>
      <vt:lpstr>Problem Statement</vt:lpstr>
      <vt:lpstr>Objectives</vt:lpstr>
      <vt:lpstr>Proposed Methodology (4 slides)</vt:lpstr>
      <vt:lpstr>Result </vt:lpstr>
      <vt:lpstr>Results: Comparisons (n = 50,000)</vt:lpstr>
      <vt:lpstr>Results: Recursion Depth</vt:lpstr>
      <vt:lpstr>Results: Scalability</vt:lpstr>
      <vt:lpstr>Results: Energy Efficiency</vt:lpstr>
      <vt:lpstr>Summary: n = 50,000 (Random Data)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Chaitanya Khokhar [CSE - 2024]</cp:lastModifiedBy>
  <cp:revision>9</cp:revision>
  <dcterms:created xsi:type="dcterms:W3CDTF">2025-09-29T05:03:41Z</dcterms:created>
  <dcterms:modified xsi:type="dcterms:W3CDTF">2026-04-13T01:36:47Z</dcterms:modified>
</cp:coreProperties>
</file>